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41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8" r:id="rId6"/>
    <p:sldId id="260" r:id="rId7"/>
    <p:sldId id="267" r:id="rId8"/>
    <p:sldId id="261" r:id="rId9"/>
    <p:sldId id="262" r:id="rId10"/>
    <p:sldId id="266" r:id="rId11"/>
    <p:sldId id="263" r:id="rId12"/>
    <p:sldId id="264" r:id="rId13"/>
    <p:sldId id="269" r:id="rId14"/>
    <p:sldId id="270" r:id="rId15"/>
    <p:sldId id="271" r:id="rId16"/>
    <p:sldId id="272" r:id="rId17"/>
    <p:sldId id="265" r:id="rId18"/>
  </p:sldIdLst>
  <p:sldSz cx="14630400" cy="8229600"/>
  <p:notesSz cx="8229600" cy="14630400"/>
  <p:embeddedFontLst>
    <p:embeddedFont>
      <p:font typeface="Arial Black" panose="020B0A04020102020204" pitchFamily="34" charset="0"/>
      <p:bold r:id="rId20"/>
    </p:embeddedFont>
    <p:embeddedFont>
      <p:font typeface="Arial Rounded MT Bold" panose="020F0704030504030204" pitchFamily="34" charset="0"/>
      <p:regular r:id="rId21"/>
    </p:embeddedFont>
    <p:embeddedFont>
      <p:font typeface="Lucida Calligraphy" panose="03010101010101010101" pitchFamily="66" charset="0"/>
      <p:regular r:id="rId22"/>
    </p:embeddedFont>
    <p:embeddedFont>
      <p:font typeface="Microsoft YaHei UI" panose="020B0503020204020204" pitchFamily="34" charset="-122"/>
      <p:regular r:id="rId23"/>
      <p:bold r:id="rId24"/>
    </p:embeddedFont>
    <p:embeddedFont>
      <p:font typeface="MingLiU_HKSCS-ExtB" panose="02020500000000000000" pitchFamily="18" charset="-120"/>
      <p:regular r:id="rId25"/>
    </p:embeddedFont>
    <p:embeddedFont>
      <p:font typeface="MingLiU-ExtB" panose="02020500000000000000" pitchFamily="18" charset="-120"/>
      <p:regular r:id="rId26"/>
    </p:embeddedFont>
    <p:embeddedFont>
      <p:font typeface="MS Reference Sans Serif" panose="020B0604030504040204" pitchFamily="34" charset="0"/>
      <p:regular r:id="rId27"/>
    </p:embeddedFont>
    <p:embeddedFont>
      <p:font typeface="Old English Text MT" panose="03040902040508030806" pitchFamily="66" charset="0"/>
      <p:regular r:id="rId28"/>
    </p:embeddedFont>
    <p:embeddedFont>
      <p:font typeface="Sitka Banner Semibold" pitchFamily="2" charset="0"/>
      <p:bold r:id="rId29"/>
      <p:boldItalic r:id="rId30"/>
    </p:embeddedFont>
    <p:embeddedFont>
      <p:font typeface="Sitka Display Semibold" pitchFamily="2" charset="0"/>
      <p:bold r:id="rId31"/>
      <p:boldItalic r:id="rId32"/>
    </p:embeddedFont>
    <p:embeddedFont>
      <p:font typeface="Sitka Small Semibold" pitchFamily="2" charset="0"/>
      <p:bold r:id="rId33"/>
      <p:boldItalic r:id="rId34"/>
    </p:embeddedFont>
    <p:embeddedFont>
      <p:font typeface="Sitka Subheading Semibold" pitchFamily="2" charset="0"/>
      <p:bold r:id="rId35"/>
      <p:boldItalic r:id="rId36"/>
    </p:embeddedFont>
    <p:embeddedFont>
      <p:font typeface="Source Sans 3" panose="020B0604020202020204" charset="0"/>
      <p:regular r:id="rId37"/>
    </p:embeddedFont>
    <p:embeddedFont>
      <p:font typeface="Stencil" panose="040409050D0802020404" pitchFamily="82" charset="0"/>
      <p:regular r:id="rId38"/>
    </p:embeddedFont>
    <p:embeddedFont>
      <p:font typeface="Trebuchet MS" panose="020B0603020202020204" pitchFamily="34" charset="0"/>
      <p:regular r:id="rId39"/>
      <p:bold r:id="rId40"/>
      <p:italic r:id="rId41"/>
      <p:boldItalic r:id="rId42"/>
    </p:embeddedFont>
    <p:embeddedFont>
      <p:font typeface="Wide Latin" panose="020A0A07050505020404" pitchFamily="18" charset="0"/>
      <p:regular r:id="rId43"/>
    </p:embeddedFont>
    <p:embeddedFont>
      <p:font typeface="Wingdings 3" panose="05040102010807070707" pitchFamily="18" charset="2"/>
      <p:regular r:id="rId4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665A76-961B-44C1-8E25-79B2F950C18D}" v="2" dt="2025-11-12T19:02:06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font" Target="fonts/font23.fntdata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0.fntdata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openxmlformats.org/officeDocument/2006/relationships/font" Target="fonts/font2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font" Target="fonts/font24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46" Type="http://schemas.openxmlformats.org/officeDocument/2006/relationships/viewProps" Target="viewProps.xml"/><Relationship Id="rId20" Type="http://schemas.openxmlformats.org/officeDocument/2006/relationships/font" Target="fonts/font1.fntdata"/><Relationship Id="rId41" Type="http://schemas.openxmlformats.org/officeDocument/2006/relationships/font" Target="fonts/font2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NY THALLAPALLY" userId="f338c61828a2cfdb" providerId="LiveId" clId="{26923B8D-998D-46AB-8CA5-4871FB327AC4}"/>
    <pc:docChg chg="custSel addSld modSld">
      <pc:chgData name="SUNNY THALLAPALLY" userId="f338c61828a2cfdb" providerId="LiveId" clId="{26923B8D-998D-46AB-8CA5-4871FB327AC4}" dt="2025-11-13T03:54:08.113" v="38" actId="1076"/>
      <pc:docMkLst>
        <pc:docMk/>
      </pc:docMkLst>
      <pc:sldChg chg="addSp modSp new mod">
        <pc:chgData name="SUNNY THALLAPALLY" userId="f338c61828a2cfdb" providerId="LiveId" clId="{26923B8D-998D-46AB-8CA5-4871FB327AC4}" dt="2025-11-12T19:03:04.655" v="33" actId="1036"/>
        <pc:sldMkLst>
          <pc:docMk/>
          <pc:sldMk cId="3114983831" sldId="269"/>
        </pc:sldMkLst>
        <pc:picChg chg="add mod">
          <ac:chgData name="SUNNY THALLAPALLY" userId="f338c61828a2cfdb" providerId="LiveId" clId="{26923B8D-998D-46AB-8CA5-4871FB327AC4}" dt="2025-11-12T19:02:50.112" v="29" actId="1076"/>
          <ac:picMkLst>
            <pc:docMk/>
            <pc:sldMk cId="3114983831" sldId="269"/>
            <ac:picMk id="3" creationId="{C5F34674-49AB-FB41-F7CE-6C690AC4A3B3}"/>
          </ac:picMkLst>
        </pc:picChg>
        <pc:picChg chg="add mod">
          <ac:chgData name="SUNNY THALLAPALLY" userId="f338c61828a2cfdb" providerId="LiveId" clId="{26923B8D-998D-46AB-8CA5-4871FB327AC4}" dt="2025-11-12T19:03:04.655" v="33" actId="1036"/>
          <ac:picMkLst>
            <pc:docMk/>
            <pc:sldMk cId="3114983831" sldId="269"/>
            <ac:picMk id="5" creationId="{81A0E326-7F1A-6D81-4AE4-D1BB2AB28422}"/>
          </ac:picMkLst>
        </pc:picChg>
      </pc:sldChg>
      <pc:sldChg chg="addSp delSp modSp new mod">
        <pc:chgData name="SUNNY THALLAPALLY" userId="f338c61828a2cfdb" providerId="LiveId" clId="{26923B8D-998D-46AB-8CA5-4871FB327AC4}" dt="2025-11-12T19:02:42.889" v="28" actId="1076"/>
        <pc:sldMkLst>
          <pc:docMk/>
          <pc:sldMk cId="2923462475" sldId="270"/>
        </pc:sldMkLst>
        <pc:picChg chg="add del mod">
          <ac:chgData name="SUNNY THALLAPALLY" userId="f338c61828a2cfdb" providerId="LiveId" clId="{26923B8D-998D-46AB-8CA5-4871FB327AC4}" dt="2025-11-12T18:57:41.722" v="8" actId="21"/>
          <ac:picMkLst>
            <pc:docMk/>
            <pc:sldMk cId="2923462475" sldId="270"/>
            <ac:picMk id="3" creationId="{98509A13-2D3B-FE7E-A733-5149005E8574}"/>
          </ac:picMkLst>
        </pc:picChg>
        <pc:picChg chg="add mod">
          <ac:chgData name="SUNNY THALLAPALLY" userId="f338c61828a2cfdb" providerId="LiveId" clId="{26923B8D-998D-46AB-8CA5-4871FB327AC4}" dt="2025-11-12T19:02:39.959" v="27" actId="1076"/>
          <ac:picMkLst>
            <pc:docMk/>
            <pc:sldMk cId="2923462475" sldId="270"/>
            <ac:picMk id="5" creationId="{265683A5-54AC-39F4-F178-670B1B007944}"/>
          </ac:picMkLst>
        </pc:picChg>
        <pc:picChg chg="add mod">
          <ac:chgData name="SUNNY THALLAPALLY" userId="f338c61828a2cfdb" providerId="LiveId" clId="{26923B8D-998D-46AB-8CA5-4871FB327AC4}" dt="2025-11-12T19:02:36.141" v="26" actId="1076"/>
          <ac:picMkLst>
            <pc:docMk/>
            <pc:sldMk cId="2923462475" sldId="270"/>
            <ac:picMk id="6" creationId="{98509A13-2D3B-FE7E-A733-5149005E8574}"/>
          </ac:picMkLst>
        </pc:picChg>
        <pc:picChg chg="add mod">
          <ac:chgData name="SUNNY THALLAPALLY" userId="f338c61828a2cfdb" providerId="LiveId" clId="{26923B8D-998D-46AB-8CA5-4871FB327AC4}" dt="2025-11-12T19:02:42.889" v="28" actId="1076"/>
          <ac:picMkLst>
            <pc:docMk/>
            <pc:sldMk cId="2923462475" sldId="270"/>
            <ac:picMk id="8" creationId="{A980B7BA-93E3-8D3A-D822-5A5529668930}"/>
          </ac:picMkLst>
        </pc:picChg>
      </pc:sldChg>
      <pc:sldChg chg="addSp modSp new mod">
        <pc:chgData name="SUNNY THALLAPALLY" userId="f338c61828a2cfdb" providerId="LiveId" clId="{26923B8D-998D-46AB-8CA5-4871FB327AC4}" dt="2025-11-12T19:01:35.529" v="16" actId="1076"/>
        <pc:sldMkLst>
          <pc:docMk/>
          <pc:sldMk cId="3216628478" sldId="271"/>
        </pc:sldMkLst>
        <pc:picChg chg="add mod">
          <ac:chgData name="SUNNY THALLAPALLY" userId="f338c61828a2cfdb" providerId="LiveId" clId="{26923B8D-998D-46AB-8CA5-4871FB327AC4}" dt="2025-11-12T19:00:48.373" v="14" actId="1076"/>
          <ac:picMkLst>
            <pc:docMk/>
            <pc:sldMk cId="3216628478" sldId="271"/>
            <ac:picMk id="3" creationId="{A9708C44-95A4-8AAE-8D04-A10618FCE866}"/>
          </ac:picMkLst>
        </pc:picChg>
        <pc:picChg chg="add mod">
          <ac:chgData name="SUNNY THALLAPALLY" userId="f338c61828a2cfdb" providerId="LiveId" clId="{26923B8D-998D-46AB-8CA5-4871FB327AC4}" dt="2025-11-12T19:01:35.529" v="16" actId="1076"/>
          <ac:picMkLst>
            <pc:docMk/>
            <pc:sldMk cId="3216628478" sldId="271"/>
            <ac:picMk id="5" creationId="{9B7D9AA9-8D04-271A-ED37-426C6B03DFC5}"/>
          </ac:picMkLst>
        </pc:picChg>
      </pc:sldChg>
      <pc:sldChg chg="addSp modSp new mod">
        <pc:chgData name="SUNNY THALLAPALLY" userId="f338c61828a2cfdb" providerId="LiveId" clId="{26923B8D-998D-46AB-8CA5-4871FB327AC4}" dt="2025-11-13T03:54:08.113" v="38" actId="1076"/>
        <pc:sldMkLst>
          <pc:docMk/>
          <pc:sldMk cId="3389242356" sldId="272"/>
        </pc:sldMkLst>
        <pc:picChg chg="add mod">
          <ac:chgData name="SUNNY THALLAPALLY" userId="f338c61828a2cfdb" providerId="LiveId" clId="{26923B8D-998D-46AB-8CA5-4871FB327AC4}" dt="2025-11-13T03:54:08.113" v="38" actId="1076"/>
          <ac:picMkLst>
            <pc:docMk/>
            <pc:sldMk cId="3389242356" sldId="272"/>
            <ac:picMk id="3" creationId="{01D6F881-546B-1956-2D3C-4D82A22B4E0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170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481" y="2885441"/>
            <a:ext cx="9320323" cy="1975562"/>
          </a:xfrm>
        </p:spPr>
        <p:txBody>
          <a:bodyPr anchor="b">
            <a:noAutofit/>
          </a:bodyPr>
          <a:lstStyle>
            <a:lvl1pPr algn="r">
              <a:defRPr sz="648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481" y="4861000"/>
            <a:ext cx="9320323" cy="131627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40857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64716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3241041"/>
            <a:ext cx="10316002" cy="2191897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9620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1" y="2592707"/>
            <a:ext cx="5020842" cy="46569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7964" y="2592707"/>
            <a:ext cx="5020841" cy="4656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07041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894" y="2593180"/>
            <a:ext cx="502274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0894" y="3284695"/>
            <a:ext cx="5022748" cy="396494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6059" y="2593180"/>
            <a:ext cx="5022742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6062" y="3284695"/>
            <a:ext cx="5022740" cy="396494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52669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4243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88781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1798325"/>
            <a:ext cx="4625434" cy="1534159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2554" y="617910"/>
            <a:ext cx="5416249" cy="66317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1" y="3332483"/>
            <a:ext cx="4625434" cy="3101339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476" indent="0">
              <a:buNone/>
              <a:defRPr sz="1680"/>
            </a:lvl2pPr>
            <a:lvl3pPr marL="1096951" indent="0">
              <a:buNone/>
              <a:defRPr sz="1440"/>
            </a:lvl3pPr>
            <a:lvl4pPr marL="1645427" indent="0">
              <a:buNone/>
              <a:defRPr sz="1200"/>
            </a:lvl4pPr>
            <a:lvl5pPr marL="2193901" indent="0">
              <a:buNone/>
              <a:defRPr sz="1200"/>
            </a:lvl5pPr>
            <a:lvl6pPr marL="2742377" indent="0">
              <a:buNone/>
              <a:defRPr sz="1200"/>
            </a:lvl6pPr>
            <a:lvl7pPr marL="3290852" indent="0">
              <a:buNone/>
              <a:defRPr sz="1200"/>
            </a:lvl7pPr>
            <a:lvl8pPr marL="3839328" indent="0">
              <a:buNone/>
              <a:defRPr sz="1200"/>
            </a:lvl8pPr>
            <a:lvl9pPr marL="4387804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01610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5760720"/>
            <a:ext cx="1031600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801" y="731520"/>
            <a:ext cx="10316002" cy="4614862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2" y="6440806"/>
            <a:ext cx="10316000" cy="808829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89000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731520"/>
            <a:ext cx="10316002" cy="40843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00384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39367" y="4358640"/>
            <a:ext cx="8669429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798085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2318386"/>
            <a:ext cx="10316002" cy="3114552"/>
          </a:xfrm>
        </p:spPr>
        <p:txBody>
          <a:bodyPr anchor="b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36245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491372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731520"/>
            <a:ext cx="10305844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86431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1211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61208" y="731520"/>
            <a:ext cx="1565692" cy="630174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2" y="731520"/>
            <a:ext cx="8472180" cy="63017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4523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8317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05444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1209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5547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8682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96902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87324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18835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2260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8809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1" y="2592707"/>
            <a:ext cx="10316002" cy="4656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46160" y="7249635"/>
            <a:ext cx="109432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801" y="7249635"/>
            <a:ext cx="755713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08796" y="7249635"/>
            <a:ext cx="82000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374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  <p:sldLayoutId id="2147483759" r:id="rId18"/>
    <p:sldLayoutId id="2147483760" r:id="rId19"/>
    <p:sldLayoutId id="2147483761" r:id="rId20"/>
    <p:sldLayoutId id="2147483762" r:id="rId21"/>
    <p:sldLayoutId id="2147483763" r:id="rId22"/>
    <p:sldLayoutId id="2147483764" r:id="rId23"/>
    <p:sldLayoutId id="2147483765" r:id="rId24"/>
    <p:sldLayoutId id="2147483766" r:id="rId25"/>
    <p:sldLayoutId id="2147483767" r:id="rId26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71961"/>
            <a:ext cx="7556421" cy="1694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800" b="1" dirty="0">
                <a:solidFill>
                  <a:srgbClr val="00B0F0"/>
                </a:solidFill>
                <a:latin typeface="Lucida Calligraphy" panose="03010101010101010101" pitchFamily="66" charset="0"/>
              </a:rPr>
              <a:t>Faculty  Verification Approval System </a:t>
            </a:r>
            <a:endParaRPr lang="en-US" sz="4450" dirty="0">
              <a:solidFill>
                <a:srgbClr val="00B0F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28208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2B4150"/>
                </a:solidFill>
                <a:latin typeface="Sitka Display Semibold" pitchFamily="2" charset="0"/>
              </a:rPr>
              <a:t>TEAM MEMBERS  :</a:t>
            </a:r>
            <a:endParaRPr lang="en-US" sz="3200" dirty="0">
              <a:latin typeface="Sitka Display Semibold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1" y="4900136"/>
            <a:ext cx="745811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Arial Black" panose="020B0A04020102020204" pitchFamily="34" charset="0"/>
                <a:ea typeface="Source Sans 3" pitchFamily="34" charset="-122"/>
                <a:cs typeface="Source Sans 3" pitchFamily="34" charset="-120"/>
              </a:rPr>
              <a:t>M .</a:t>
            </a:r>
            <a:r>
              <a:rPr lang="en-US" dirty="0">
                <a:solidFill>
                  <a:srgbClr val="2B4150"/>
                </a:solidFill>
                <a:latin typeface="Arial Black" panose="020B0A04020102020204" pitchFamily="34" charset="0"/>
                <a:ea typeface="SimSun-ExtG" panose="02010609060101010101" pitchFamily="49" charset="-122"/>
                <a:cs typeface="Source Sans 3" pitchFamily="34" charset="-120"/>
              </a:rPr>
              <a:t>SATHWIK</a:t>
            </a:r>
            <a:r>
              <a:rPr lang="en-US" dirty="0">
                <a:solidFill>
                  <a:srgbClr val="2B4150"/>
                </a:solidFill>
                <a:latin typeface="Arial Black" panose="020B0A04020102020204" pitchFamily="34" charset="0"/>
                <a:ea typeface="Source Sans 3" pitchFamily="34" charset="-122"/>
                <a:cs typeface="Source Sans 3" pitchFamily="34" charset="-120"/>
              </a:rPr>
              <a:t>  </a:t>
            </a:r>
            <a:r>
              <a:rPr lang="en-US" dirty="0">
                <a:solidFill>
                  <a:srgbClr val="2B4150"/>
                </a:solidFill>
                <a:latin typeface="Stencil" panose="040409050D0802020404" pitchFamily="82" charset="0"/>
                <a:ea typeface="Source Sans 3" pitchFamily="34" charset="-122"/>
                <a:cs typeface="Source Sans 3" pitchFamily="34" charset="-120"/>
              </a:rPr>
              <a:t>- 2403A51048</a:t>
            </a:r>
            <a:endParaRPr lang="en-US" dirty="0">
              <a:latin typeface="Stencil" panose="040409050D0802020404" pitchFamily="8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534233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Arial Black" panose="020B0A04020102020204" pitchFamily="34" charset="0"/>
                <a:ea typeface="Source Sans 3" pitchFamily="34" charset="-122"/>
                <a:cs typeface="Source Sans 3" pitchFamily="34" charset="-120"/>
              </a:rPr>
              <a:t>T . SAVIN KUMAR  </a:t>
            </a:r>
            <a:r>
              <a:rPr lang="en-US" dirty="0">
                <a:solidFill>
                  <a:srgbClr val="2B4150"/>
                </a:solidFill>
                <a:latin typeface="Stencil" panose="040409050D0802020404" pitchFamily="82" charset="0"/>
                <a:ea typeface="Source Sans 3" pitchFamily="34" charset="-122"/>
                <a:cs typeface="Source Sans 3" pitchFamily="34" charset="-120"/>
              </a:rPr>
              <a:t>- 2403A51045</a:t>
            </a:r>
            <a:endParaRPr lang="en-US" dirty="0">
              <a:latin typeface="Stencil" panose="040409050D0802020404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047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24E73"/>
                </a:solidFill>
                <a:latin typeface="Lucida Calligraphy" panose="03010101010101010101" pitchFamily="66" charset="0"/>
                <a:ea typeface="Microsoft YaHei UI Light" panose="020B0502040204020203" pitchFamily="34" charset="-122"/>
                <a:cs typeface="MuseoModerno Medium" pitchFamily="34" charset="-120"/>
              </a:rPr>
              <a:t>Project Objectives</a:t>
            </a:r>
            <a:endParaRPr lang="en-US" sz="3550" dirty="0">
              <a:latin typeface="Lucida Calligraphy" panose="03010101010101010101" pitchFamily="66" charset="0"/>
              <a:ea typeface="Microsoft YaHei UI Light" panose="020B0502040204020203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93107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Arial Rounded MT Bold" panose="020F0704030504030204" pitchFamily="34" charset="0"/>
                <a:ea typeface="Source Sans 3" pitchFamily="34" charset="-122"/>
                <a:cs typeface="Source Sans 3" pitchFamily="34" charset="-120"/>
              </a:rPr>
              <a:t>This project aims to streamline the faculty approval and contract management process within SR University, ensuring efficiency and transparency.</a:t>
            </a:r>
            <a:endParaRPr lang="en-US" sz="1750" dirty="0">
              <a:latin typeface="Arial Rounded MT Bold" panose="020F070403050403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12031"/>
            <a:ext cx="3048000" cy="18838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022652"/>
            <a:ext cx="30400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Lucida Calligraphy" panose="03010101010101010101" pitchFamily="66" charset="0"/>
                <a:ea typeface="MuseoModerno Medium" pitchFamily="34" charset="-122"/>
                <a:cs typeface="MuseoModerno Medium" pitchFamily="34" charset="-120"/>
              </a:rPr>
              <a:t>Automated Workflow</a:t>
            </a:r>
            <a:endParaRPr lang="en-US" sz="2200" dirty="0">
              <a:latin typeface="Lucida Calligraphy" panose="03010101010101010101" pitchFamily="66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5513070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itka Small Semibold" pitchFamily="2" charset="0"/>
                <a:ea typeface="Source Sans 3" pitchFamily="34" charset="-122"/>
                <a:cs typeface="Source Sans 3" pitchFamily="34" charset="-120"/>
              </a:rPr>
              <a:t>Digitize and automate the entire faculty application and approval process, reducing manual paperwork and delays.</a:t>
            </a:r>
            <a:endParaRPr lang="en-US" sz="1750" dirty="0">
              <a:latin typeface="Sitka Small Semibold" pitchFamily="2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2912031"/>
            <a:ext cx="3048119" cy="18838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25278" y="5022652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Lucida Calligraphy" panose="03010101010101010101" pitchFamily="66" charset="0"/>
                <a:ea typeface="MuseoModerno Medium" pitchFamily="34" charset="-122"/>
                <a:cs typeface="MuseoModerno Medium" pitchFamily="34" charset="-120"/>
              </a:rPr>
              <a:t>Enhanced Transparency</a:t>
            </a:r>
            <a:endParaRPr lang="en-US" sz="2200" dirty="0">
              <a:latin typeface="Lucida Calligraphy" panose="03010101010101010101" pitchFamily="66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125278" y="5867400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itka Small Semibold" pitchFamily="2" charset="0"/>
                <a:ea typeface="Source Sans 3" pitchFamily="34" charset="-122"/>
                <a:cs typeface="Source Sans 3" pitchFamily="34" charset="-120"/>
              </a:rPr>
              <a:t>Ensure clear visibility into application statuses and approval stages for all stakeholders.</a:t>
            </a:r>
            <a:endParaRPr lang="en-US" sz="1750" dirty="0">
              <a:latin typeface="Sitka Small Semibold" pitchFamily="2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912031"/>
            <a:ext cx="3048119" cy="18838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56884" y="50226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Lucida Calligraphy" panose="03010101010101010101" pitchFamily="66" charset="0"/>
                <a:ea typeface="MuseoModerno Medium" pitchFamily="34" charset="-122"/>
                <a:cs typeface="MuseoModerno Medium" pitchFamily="34" charset="-120"/>
              </a:rPr>
              <a:t>Data Management</a:t>
            </a:r>
            <a:endParaRPr lang="en-US" sz="2200" dirty="0">
              <a:latin typeface="Lucida Calligraphy" panose="03010101010101010101" pitchFamily="66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456884" y="5513070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itka Small Semibold" pitchFamily="2" charset="0"/>
                <a:ea typeface="Source Sans 3" pitchFamily="34" charset="-122"/>
                <a:cs typeface="Source Sans 3" pitchFamily="34" charset="-120"/>
              </a:rPr>
              <a:t>Centralize faculty data for easy access, reporting, and efficient management of profiles and contracts.</a:t>
            </a:r>
            <a:endParaRPr lang="en-US" sz="1750" dirty="0">
              <a:latin typeface="Sitka Small Semibold" pitchFamily="2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912031"/>
            <a:ext cx="3048119" cy="188380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88491" y="50226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Lucida Calligraphy" panose="03010101010101010101" pitchFamily="66" charset="0"/>
                <a:ea typeface="MuseoModerno Medium" pitchFamily="34" charset="-122"/>
                <a:cs typeface="MuseoModerno Medium" pitchFamily="34" charset="-120"/>
              </a:rPr>
              <a:t>Secure Access</a:t>
            </a:r>
            <a:endParaRPr lang="en-US" sz="2200" dirty="0">
              <a:latin typeface="Lucida Calligraphy" panose="03010101010101010101" pitchFamily="66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0788491" y="5513070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itka Small Semibold" pitchFamily="2" charset="0"/>
                <a:ea typeface="Source Sans 3" pitchFamily="34" charset="-122"/>
                <a:cs typeface="Source Sans 3" pitchFamily="34" charset="-120"/>
              </a:rPr>
              <a:t>Implement robust role-based access controls to ensure data security and integrity.</a:t>
            </a:r>
            <a:endParaRPr lang="en-US" sz="1750" dirty="0">
              <a:latin typeface="Sitka Small Semibold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921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24E73"/>
                </a:solidFill>
                <a:latin typeface="Stencil" panose="040409050D0802020404" pitchFamily="82" charset="0"/>
                <a:ea typeface="MuseoModerno Medium" pitchFamily="34" charset="-122"/>
                <a:cs typeface="MuseoModerno Medium" pitchFamily="34" charset="-120"/>
              </a:rPr>
              <a:t>Key Stakeholders</a:t>
            </a:r>
            <a:endParaRPr lang="en-US" sz="3550" dirty="0">
              <a:latin typeface="Stencil" panose="040409050D0802020404" pitchFamily="8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26635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itka Display Semibold" pitchFamily="2" charset="0"/>
                <a:ea typeface="Source Sans 3" pitchFamily="34" charset="-122"/>
                <a:cs typeface="Source Sans 3" pitchFamily="34" charset="-120"/>
              </a:rPr>
              <a:t>The system is designed to serve various university personnel, each with distinct roles and access levels.</a:t>
            </a:r>
            <a:endParaRPr lang="en-US" sz="1750" dirty="0">
              <a:latin typeface="Sitka Display Semibold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884408"/>
            <a:ext cx="680442" cy="6804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7720" y="30757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Arial Rounded MT Bold" panose="020F0704030504030204" pitchFamily="34" charset="0"/>
                <a:ea typeface="MS PGothic" panose="020B0600070205080204" pitchFamily="34" charset="-128"/>
                <a:cs typeface="MuseoModerno Medium" pitchFamily="34" charset="-120"/>
              </a:rPr>
              <a:t>Faculty Members</a:t>
            </a:r>
            <a:endParaRPr lang="en-US" sz="2200" dirty="0">
              <a:latin typeface="Arial Rounded MT Bold" panose="020F0704030504030204" pitchFamily="34" charset="0"/>
              <a:ea typeface="MS PGothic" panose="020B0600070205080204" pitchFamily="34" charset="-128"/>
            </a:endParaRPr>
          </a:p>
        </p:txBody>
      </p:sp>
      <p:sp>
        <p:nvSpPr>
          <p:cNvPr id="6" name="Text 3"/>
          <p:cNvSpPr/>
          <p:nvPr/>
        </p:nvSpPr>
        <p:spPr>
          <a:xfrm>
            <a:off x="1757720" y="3566160"/>
            <a:ext cx="31946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Submit applications, track status, and view contract details.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2884408"/>
            <a:ext cx="680442" cy="6804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99823" y="3075742"/>
            <a:ext cx="319468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Arial Rounded MT Bold" panose="020F0704030504030204" pitchFamily="34" charset="0"/>
                <a:ea typeface="MS Gothic" panose="020B0609070205080204" pitchFamily="49" charset="-128"/>
                <a:cs typeface="MuseoModerno Medium" pitchFamily="34" charset="-120"/>
              </a:rPr>
              <a:t>Heads of Department (HOD)</a:t>
            </a:r>
            <a:endParaRPr lang="en-US" sz="2200" dirty="0">
              <a:latin typeface="Arial Rounded MT Bold" panose="020F0704030504030204" pitchFamily="34" charset="0"/>
              <a:ea typeface="MS Gothic" panose="020B0609070205080204" pitchFamily="49" charset="-128"/>
            </a:endParaRPr>
          </a:p>
        </p:txBody>
      </p:sp>
      <p:sp>
        <p:nvSpPr>
          <p:cNvPr id="9" name="Text 5"/>
          <p:cNvSpPr/>
          <p:nvPr/>
        </p:nvSpPr>
        <p:spPr>
          <a:xfrm>
            <a:off x="6199823" y="3920490"/>
            <a:ext cx="31946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Review and approve applications relevant to their department.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2884408"/>
            <a:ext cx="680442" cy="6804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641925" y="30757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Arial Rounded MT Bold" panose="020F0704030504030204" pitchFamily="34" charset="0"/>
                <a:ea typeface="MS Gothic" panose="020B0609070205080204" pitchFamily="49" charset="-128"/>
                <a:cs typeface="MuseoModerno Medium" pitchFamily="34" charset="-120"/>
              </a:rPr>
              <a:t>Principal</a:t>
            </a:r>
            <a:endParaRPr lang="en-US" sz="2200" dirty="0">
              <a:latin typeface="Arial Rounded MT Bold" panose="020F0704030504030204" pitchFamily="34" charset="0"/>
              <a:ea typeface="MS Gothic" panose="020B0609070205080204" pitchFamily="49" charset="-128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0641925" y="3566160"/>
            <a:ext cx="31946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final approval for faculty appointments.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5099923"/>
            <a:ext cx="680442" cy="6804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57720" y="52912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Arial Rounded MT Bold" panose="020F0704030504030204" pitchFamily="34" charset="0"/>
                <a:ea typeface="MS Gothic" panose="020B0609070205080204" pitchFamily="49" charset="-128"/>
                <a:cs typeface="MuseoModerno Medium" pitchFamily="34" charset="-120"/>
              </a:rPr>
              <a:t>Management</a:t>
            </a:r>
            <a:endParaRPr lang="en-US" sz="2200" dirty="0">
              <a:latin typeface="Arial Rounded MT Bold" panose="020F0704030504030204" pitchFamily="34" charset="0"/>
              <a:ea typeface="MS Gothic" panose="020B0609070205080204" pitchFamily="49" charset="-128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757720" y="5781675"/>
            <a:ext cx="319468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Oversee the entire approval process and access aggregated data.</a:t>
            </a:r>
            <a:endParaRPr lang="en-US" sz="1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5893" y="5099923"/>
            <a:ext cx="680442" cy="68044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199823" y="52912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Arial Rounded MT Bold" panose="020F0704030504030204" pitchFamily="34" charset="0"/>
                <a:ea typeface="MS Gothic" panose="020B0609070205080204" pitchFamily="49" charset="-128"/>
                <a:cs typeface="MuseoModerno Medium" pitchFamily="34" charset="-120"/>
              </a:rPr>
              <a:t>Students</a:t>
            </a:r>
            <a:endParaRPr lang="en-US" sz="2200" dirty="0">
              <a:latin typeface="Arial Rounded MT Bold" panose="020F0704030504030204" pitchFamily="34" charset="0"/>
              <a:ea typeface="MS Gothic" panose="020B0609070205080204" pitchFamily="49" charset="-128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6199823" y="5781675"/>
            <a:ext cx="31946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Potentially view approved faculty profiles (read-only access).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10991"/>
            <a:ext cx="458271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24E73"/>
                </a:solidFill>
                <a:latin typeface="Stencil" panose="040409050D0802020404" pitchFamily="82" charset="0"/>
                <a:ea typeface="MuseoModerno Medium" pitchFamily="34" charset="-122"/>
                <a:cs typeface="MuseoModerno Medium" pitchFamily="34" charset="-120"/>
              </a:rPr>
              <a:t>Technologies Utilised</a:t>
            </a:r>
            <a:endParaRPr lang="en-US" sz="3550" dirty="0">
              <a:latin typeface="Stencil" panose="040409050D0802020404" pitchFamily="8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2315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SimSun" panose="02010600030101010101" pitchFamily="2" charset="-122"/>
                <a:ea typeface="SimSun" panose="02010600030101010101" pitchFamily="2" charset="-122"/>
                <a:cs typeface="Source Sans 3" pitchFamily="34" charset="-120"/>
              </a:rPr>
              <a:t>The project leverages modern web technologies to deliver a responsive and efficient user experience.</a:t>
            </a:r>
            <a:endParaRPr lang="en-US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076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>
                <a:solidFill>
                  <a:srgbClr val="2B415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useoModerno Medium" pitchFamily="34" charset="-120"/>
              </a:rPr>
              <a:t>HTML5</a:t>
            </a:r>
            <a:endParaRPr lang="en-US" sz="28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566880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Structuring the web content and defining the layout of the application.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4076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useoModerno Medium" pitchFamily="34" charset="-120"/>
              </a:rPr>
              <a:t>CSS3</a:t>
            </a:r>
            <a:endParaRPr lang="en-US" sz="2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25278" y="4566880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Styling the application for a clean, intuitive, and visually appealing user interface.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56884" y="4076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useoModerno Medium" pitchFamily="34" charset="-120"/>
              </a:rPr>
              <a:t>JavaScript</a:t>
            </a:r>
            <a:endParaRPr lang="en-US" sz="2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56884" y="4566880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Implementing interactive functionalities, form validations, and dynamic content rendering.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788491" y="4076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useoModerno Medium" pitchFamily="34" charset="-120"/>
              </a:rPr>
              <a:t>Local Storage</a:t>
            </a:r>
            <a:endParaRPr lang="en-US" sz="2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788491" y="4566880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 local data persistence and demo control, simulating backend interactions without a server.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9A63EE-C1C9-12E1-4BC2-47EC92650542}"/>
              </a:ext>
            </a:extLst>
          </p:cNvPr>
          <p:cNvSpPr txBox="1"/>
          <p:nvPr/>
        </p:nvSpPr>
        <p:spPr>
          <a:xfrm>
            <a:off x="1817649" y="1054609"/>
            <a:ext cx="7315200" cy="2956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Sitka Banner Semibold" pitchFamily="2" charset="0"/>
                <a:cs typeface="Arial" panose="020B0604020202020204" pitchFamily="34" charset="0"/>
              </a:rPr>
              <a:t>TOLLS  :</a:t>
            </a:r>
          </a:p>
          <a:p>
            <a:endParaRPr lang="en-US" sz="3200" b="1" dirty="0">
              <a:latin typeface="Sitka Banner Semibold" pitchFamily="2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latin typeface="Sitka Banner Semibold" pitchFamily="2" charset="0"/>
                <a:cs typeface="Arial" panose="020B0604020202020204" pitchFamily="34" charset="0"/>
              </a:rPr>
              <a:t>Local Storage</a:t>
            </a:r>
            <a:r>
              <a:rPr lang="en-US" sz="3200" dirty="0">
                <a:latin typeface="Sitka Banner Semibold" pitchFamily="2" charset="0"/>
                <a:cs typeface="Arial" panose="020B060402020202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 err="1">
                <a:latin typeface="Sitka Banner Semibold" pitchFamily="2" charset="0"/>
                <a:cs typeface="Arial" panose="020B0604020202020204" pitchFamily="34" charset="0"/>
              </a:rPr>
              <a:t>Chatgpt</a:t>
            </a:r>
            <a:endParaRPr lang="en-US" sz="3200" dirty="0">
              <a:latin typeface="Sitka Banner Semibold" pitchFamily="2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latin typeface="Sitka Banner Semibold" pitchFamily="2" charset="0"/>
                <a:cs typeface="Arial" panose="020B0604020202020204" pitchFamily="34" charset="0"/>
              </a:rPr>
              <a:t>Text Editor</a:t>
            </a:r>
            <a:r>
              <a:rPr lang="en-US" sz="3200" dirty="0">
                <a:latin typeface="Sitka Banner Semibold" pitchFamily="2" charset="0"/>
                <a:cs typeface="Arial" panose="020B0604020202020204" pitchFamily="34" charset="0"/>
              </a:rPr>
              <a:t> 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3200" dirty="0">
              <a:solidFill>
                <a:srgbClr val="2B4150"/>
              </a:solidFill>
              <a:latin typeface="Sitka Banner Semibold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408FC7-CB92-AA42-D2F1-736D03A688C8}"/>
              </a:ext>
            </a:extLst>
          </p:cNvPr>
          <p:cNvSpPr txBox="1"/>
          <p:nvPr/>
        </p:nvSpPr>
        <p:spPr>
          <a:xfrm>
            <a:off x="1817649" y="4478681"/>
            <a:ext cx="7315200" cy="1920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Sitka Subheading Semibold" pitchFamily="2" charset="0"/>
                <a:cs typeface="Arial" panose="020B0604020202020204" pitchFamily="34" charset="0"/>
              </a:rPr>
              <a:t>SOFTWARE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Sitka Subheading Semibold" pitchFamily="2" charset="0"/>
                <a:cs typeface="Arial" panose="020B0604020202020204" pitchFamily="34" charset="0"/>
              </a:rPr>
              <a:t>VS Code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Sitka Subheading Semibold" pitchFamily="2" charset="0"/>
                <a:cs typeface="Arial" panose="020B0604020202020204" pitchFamily="34" charset="0"/>
              </a:rPr>
              <a:t>Browser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Sitka Subheading Semibold" pitchFamily="2" charset="0"/>
                <a:cs typeface="Arial" panose="020B0604020202020204" pitchFamily="34" charset="0"/>
              </a:rPr>
              <a:t>No other installation of Software.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2400" dirty="0">
              <a:latin typeface="Sitka Subheading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944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38756" y="845236"/>
            <a:ext cx="704850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24E73"/>
                </a:solidFill>
                <a:latin typeface="Stencil" panose="040409050D0802020404" pitchFamily="82" charset="0"/>
                <a:ea typeface="MuseoModerno Medium" pitchFamily="34" charset="-122"/>
                <a:cs typeface="MuseoModerno Medium" pitchFamily="34" charset="-120"/>
              </a:rPr>
              <a:t>Front-end: Dashboard Overview</a:t>
            </a:r>
            <a:endParaRPr lang="en-US" sz="3550" dirty="0">
              <a:latin typeface="Stencil" panose="040409050D0802020404" pitchFamily="8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2877016"/>
            <a:ext cx="7556421" cy="1563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600" dirty="0">
                <a:solidFill>
                  <a:srgbClr val="2B4150"/>
                </a:solidFill>
                <a:latin typeface="Sitka Banner Semibold" pitchFamily="2" charset="0"/>
                <a:ea typeface="Source Sans 3" pitchFamily="34" charset="-122"/>
                <a:cs typeface="Source Sans 3" pitchFamily="34" charset="-120"/>
              </a:rPr>
              <a:t>The dashboard provides a quick summary of application statuses and enables efficient navigation.</a:t>
            </a:r>
            <a:endParaRPr lang="en-US" sz="3600" dirty="0">
              <a:latin typeface="Sitka Banner Semibold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469594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dirty="0">
                <a:solidFill>
                  <a:srgbClr val="2B4150"/>
                </a:solidFill>
                <a:latin typeface="Sitka Banner Semibold" pitchFamily="2" charset="0"/>
                <a:ea typeface="Source Sans 3" pitchFamily="34" charset="-122"/>
                <a:cs typeface="Source Sans 3" pitchFamily="34" charset="-120"/>
              </a:rPr>
              <a:t>Users can quickly see pending, approved, and rejected applications, along with quick actions to submit new applications or view all submissions.</a:t>
            </a:r>
            <a:endParaRPr lang="en-US" sz="3200" dirty="0">
              <a:latin typeface="Sitka Banner Semibold" pitchFamily="2" charset="0"/>
            </a:endParaRPr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940ECBAB-1900-5788-78FC-8184F4064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2212"/>
            <a:ext cx="5486400" cy="68173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7D528CF4-76CE-8A41-745D-91556625B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80"/>
            <a:ext cx="14630400" cy="701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203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2570" y="441960"/>
            <a:ext cx="5689759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24E73"/>
                </a:solidFill>
                <a:latin typeface="Wide Latin" panose="020A0A07050505020404" pitchFamily="18" charset="0"/>
                <a:ea typeface="MuseoModerno Medium" pitchFamily="34" charset="-122"/>
                <a:cs typeface="MuseoModerno Medium" pitchFamily="34" charset="-120"/>
              </a:rPr>
              <a:t>Dashboard: Quick Actions and Filters</a:t>
            </a:r>
            <a:endParaRPr lang="en-US" sz="2500" dirty="0">
              <a:latin typeface="Wide Latin" panose="020A0A070505050204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908613" y="1003610"/>
            <a:ext cx="5166717" cy="740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itka Subheading Semibold" pitchFamily="2" charset="0"/>
                <a:ea typeface="Source Sans 3" pitchFamily="34" charset="-122"/>
                <a:cs typeface="Source Sans 3" pitchFamily="34" charset="-120"/>
              </a:rPr>
              <a:t>The dashboard features intuitive search and filter options, allowing users to efficiently manage and locate specific applications.</a:t>
            </a:r>
          </a:p>
          <a:p>
            <a:pPr marL="0" indent="0" algn="l">
              <a:lnSpc>
                <a:spcPts val="2000"/>
              </a:lnSpc>
              <a:buNone/>
            </a:pPr>
            <a:endParaRPr lang="en-US" sz="1200" dirty="0">
              <a:latin typeface="Sitka Subheading Semibold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908613" y="1888569"/>
            <a:ext cx="516671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000"/>
              </a:lnSpc>
              <a:buSzPct val="100000"/>
            </a:pPr>
            <a:r>
              <a:rPr lang="en-US" sz="1600" b="1" dirty="0">
                <a:solidFill>
                  <a:srgbClr val="2B4150"/>
                </a:solidFill>
                <a:latin typeface="Sitka Subheading Semibold" pitchFamily="2" charset="0"/>
                <a:ea typeface="Source Sans 3" pitchFamily="34" charset="-122"/>
                <a:cs typeface="Source Sans 3" pitchFamily="34" charset="-120"/>
              </a:rPr>
              <a:t>Search Bar:</a:t>
            </a:r>
            <a:r>
              <a:rPr lang="en-US" sz="1600" dirty="0">
                <a:solidFill>
                  <a:srgbClr val="2B4150"/>
                </a:solidFill>
                <a:latin typeface="Sitka Subheading Semibold" pitchFamily="2" charset="0"/>
                <a:ea typeface="Source Sans 3" pitchFamily="34" charset="-122"/>
                <a:cs typeface="Source Sans 3" pitchFamily="34" charset="-120"/>
              </a:rPr>
              <a:t> Find applications by name, email, or department.</a:t>
            </a:r>
            <a:endParaRPr lang="en-US" sz="1600" dirty="0">
              <a:latin typeface="Sitka Subheading Semibold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908613" y="2201942"/>
            <a:ext cx="516671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000"/>
              </a:lnSpc>
              <a:buSzPct val="100000"/>
            </a:pPr>
            <a:r>
              <a:rPr lang="en-US" sz="1600" b="1" dirty="0">
                <a:solidFill>
                  <a:srgbClr val="2B4150"/>
                </a:solidFill>
                <a:latin typeface="Sitka Subheading Semibold" pitchFamily="2" charset="0"/>
                <a:ea typeface="Source Sans 3" pitchFamily="34" charset="-122"/>
                <a:cs typeface="Source Sans 3" pitchFamily="34" charset="-120"/>
              </a:rPr>
              <a:t>Sort Options:</a:t>
            </a:r>
            <a:r>
              <a:rPr lang="en-US" sz="1600" dirty="0">
                <a:solidFill>
                  <a:srgbClr val="2B4150"/>
                </a:solidFill>
                <a:latin typeface="Sitka Subheading Semibold" pitchFamily="2" charset="0"/>
                <a:ea typeface="Source Sans 3" pitchFamily="34" charset="-122"/>
                <a:cs typeface="Source Sans 3" pitchFamily="34" charset="-120"/>
              </a:rPr>
              <a:t> Organise applications by newest, experience, or</a:t>
            </a:r>
          </a:p>
          <a:p>
            <a:pPr algn="l">
              <a:lnSpc>
                <a:spcPts val="2000"/>
              </a:lnSpc>
              <a:buSzPct val="100000"/>
            </a:pPr>
            <a:r>
              <a:rPr lang="en-US" sz="1600" dirty="0">
                <a:solidFill>
                  <a:srgbClr val="2B4150"/>
                </a:solidFill>
                <a:latin typeface="Sitka Subheading Semibold" pitchFamily="2" charset="0"/>
                <a:ea typeface="Source Sans 3" pitchFamily="34" charset="-122"/>
                <a:cs typeface="Source Sans 3" pitchFamily="34" charset="-120"/>
              </a:rPr>
              <a:t> name</a:t>
            </a:r>
            <a:r>
              <a:rPr lang="en-US" sz="1250" dirty="0">
                <a:solidFill>
                  <a:srgbClr val="2B4150"/>
                </a:solidFill>
                <a:latin typeface="Sitka Subheading Semibold" pitchFamily="2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250" dirty="0">
              <a:latin typeface="Sitka Subheading Semibold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908613" y="2854712"/>
            <a:ext cx="5166717" cy="101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000"/>
              </a:lnSpc>
              <a:buSzPct val="100000"/>
            </a:pPr>
            <a:r>
              <a:rPr lang="en-US" b="1" dirty="0">
                <a:solidFill>
                  <a:srgbClr val="2B4150"/>
                </a:solidFill>
                <a:latin typeface="Sitka Subheading Semibold" pitchFamily="2" charset="0"/>
                <a:ea typeface="Source Sans 3" pitchFamily="34" charset="-122"/>
                <a:cs typeface="Source Sans 3" pitchFamily="34" charset="-120"/>
              </a:rPr>
              <a:t>Action Buttons:</a:t>
            </a:r>
            <a:r>
              <a:rPr lang="en-US" dirty="0">
                <a:solidFill>
                  <a:srgbClr val="2B4150"/>
                </a:solidFill>
                <a:latin typeface="Sitka Subheading Semibold" pitchFamily="2" charset="0"/>
                <a:ea typeface="Source Sans 3" pitchFamily="34" charset="-122"/>
                <a:cs typeface="Source Sans 3" pitchFamily="34" charset="-120"/>
              </a:rPr>
              <a:t> Directly navigate to 'New Application' or 'Submitted Applications' views.</a:t>
            </a:r>
            <a:endParaRPr lang="en-US" dirty="0">
              <a:latin typeface="Sitka Subheading Semibold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634F7E-2ABD-33BE-9248-78E7CFF80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56" y="1181556"/>
            <a:ext cx="8087854" cy="36962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807851"/>
            <a:ext cx="716637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24E73"/>
                </a:solidFill>
                <a:latin typeface="Lucida Calligraphy" panose="03010101010101010101" pitchFamily="66" charset="0"/>
                <a:ea typeface="MingLiU_MSCS-ExtB" panose="02020500000000000000" pitchFamily="18" charset="-120"/>
                <a:cs typeface="MuseoModerno Medium" pitchFamily="34" charset="-120"/>
              </a:rPr>
              <a:t>Submitting a Faculty Application</a:t>
            </a:r>
            <a:endParaRPr lang="en-US" sz="3550" dirty="0">
              <a:latin typeface="Lucida Calligraphy" panose="03010101010101010101" pitchFamily="66" charset="0"/>
              <a:ea typeface="MingLiU_MSCS-ExtB" panose="02020500000000000000" pitchFamily="18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71498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itka Small Semibold" pitchFamily="2" charset="0"/>
                <a:ea typeface="Verdana" panose="020B0604030504040204" pitchFamily="34" charset="0"/>
                <a:cs typeface="Source Sans 3" pitchFamily="34" charset="-120"/>
              </a:rPr>
              <a:t>The 'Submit Application' form ensures all necessary information is captured with validation.</a:t>
            </a:r>
            <a:endParaRPr lang="en-US" sz="1750" dirty="0">
              <a:latin typeface="Sitka Small Semibold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69594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itka Small Semibold" pitchFamily="2" charset="0"/>
                <a:ea typeface="Verdana" panose="020B0604030504040204" pitchFamily="34" charset="0"/>
                <a:cs typeface="Source Sans 3" pitchFamily="34" charset="-120"/>
              </a:rPr>
              <a:t>The form includes fields for personal details, academic qualifications, experience, and identification documents, with resume upload functionality.</a:t>
            </a:r>
            <a:endParaRPr lang="en-US" sz="1750" dirty="0">
              <a:latin typeface="Sitka Small Semibold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85E24A-EB73-7879-52B0-BAF194F15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176"/>
            <a:ext cx="14630400" cy="735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27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6507" y="492204"/>
            <a:ext cx="5545336" cy="447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4000" dirty="0">
                <a:solidFill>
                  <a:srgbClr val="124E7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useoModerno Medium" pitchFamily="34" charset="-120"/>
              </a:rPr>
              <a:t>Login Portal &amp; Demo Credentials</a:t>
            </a:r>
            <a:endParaRPr lang="en-US" sz="4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6507" y="1297662"/>
            <a:ext cx="13377386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2B4150"/>
                </a:solidFill>
                <a:latin typeface="Sitka Subheading Semibold" pitchFamily="2" charset="0"/>
                <a:ea typeface="Source Sans 3" pitchFamily="34" charset="-122"/>
                <a:cs typeface="Source Sans 3" pitchFamily="34" charset="-120"/>
              </a:rPr>
              <a:t>Access to the system is secured via a login portal, with specific demo credentials for different user roles.</a:t>
            </a:r>
            <a:endParaRPr lang="en-US" dirty="0">
              <a:latin typeface="Sitka Subheading Semibold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541181" y="1964412"/>
            <a:ext cx="2237661" cy="27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3600" dirty="0">
                <a:solidFill>
                  <a:srgbClr val="124E73"/>
                </a:solidFill>
                <a:latin typeface="MingLiU-ExtB" panose="02020500000000000000" pitchFamily="18" charset="-120"/>
                <a:ea typeface="MingLiU-ExtB" panose="02020500000000000000" pitchFamily="18" charset="-120"/>
                <a:cs typeface="MuseoModerno Medium" pitchFamily="34" charset="-120"/>
              </a:rPr>
              <a:t>Demo Login Details:</a:t>
            </a:r>
            <a:endParaRPr lang="en-US" sz="3600" dirty="0">
              <a:latin typeface="MingLiU-ExtB" panose="02020500000000000000" pitchFamily="18" charset="-120"/>
              <a:ea typeface="MingLiU-ExtB" panose="02020500000000000000" pitchFamily="18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41181" y="2422922"/>
            <a:ext cx="6470332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2B4150"/>
                </a:solidFill>
                <a:latin typeface="Sitka Banner Semibold" pitchFamily="2" charset="0"/>
                <a:ea typeface="Source Sans 3" pitchFamily="34" charset="-122"/>
                <a:cs typeface="Source Sans 3" pitchFamily="34" charset="-120"/>
              </a:rPr>
              <a:t>For demonstration purposes, various user roles have predefined credentials:</a:t>
            </a:r>
            <a:endParaRPr lang="en-US" dirty="0">
              <a:latin typeface="Sitka Banner Semibold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541181" y="2870478"/>
            <a:ext cx="6470332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2000" b="1" dirty="0">
                <a:solidFill>
                  <a:srgbClr val="2B4150"/>
                </a:solidFill>
                <a:latin typeface="SimSun" panose="02010600030101010101" pitchFamily="2" charset="-122"/>
                <a:ea typeface="SimSun" panose="02010600030101010101" pitchFamily="2" charset="-122"/>
                <a:cs typeface="Source Sans 3" pitchFamily="34" charset="-120"/>
              </a:rPr>
              <a:t>Faculty:</a:t>
            </a:r>
            <a:r>
              <a:rPr lang="en-US" sz="2000" dirty="0">
                <a:solidFill>
                  <a:srgbClr val="2B4150"/>
                </a:solidFill>
                <a:latin typeface="SimSun" panose="02010600030101010101" pitchFamily="2" charset="-122"/>
                <a:ea typeface="SimSun" panose="02010600030101010101" pitchFamily="2" charset="-122"/>
                <a:cs typeface="Source Sans 3" pitchFamily="34" charset="-120"/>
              </a:rPr>
              <a:t> faculty / faculty123</a:t>
            </a:r>
            <a:endParaRPr lang="en-US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7541181" y="3219569"/>
            <a:ext cx="6470332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2000" b="1" dirty="0">
                <a:solidFill>
                  <a:srgbClr val="2B4150"/>
                </a:solidFill>
                <a:latin typeface="SimSun" panose="02010600030101010101" pitchFamily="2" charset="-122"/>
                <a:ea typeface="SimSun" panose="02010600030101010101" pitchFamily="2" charset="-122"/>
                <a:cs typeface="Source Sans 3" pitchFamily="34" charset="-120"/>
              </a:rPr>
              <a:t>HOD:</a:t>
            </a:r>
            <a:r>
              <a:rPr lang="en-US" sz="2000" dirty="0">
                <a:solidFill>
                  <a:srgbClr val="2B4150"/>
                </a:solidFill>
                <a:latin typeface="SimSun" panose="02010600030101010101" pitchFamily="2" charset="-122"/>
                <a:ea typeface="SimSun" panose="02010600030101010101" pitchFamily="2" charset="-122"/>
                <a:cs typeface="Source Sans 3" pitchFamily="34" charset="-120"/>
              </a:rPr>
              <a:t> hod / hod123</a:t>
            </a:r>
            <a:endParaRPr lang="en-US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541181" y="3568660"/>
            <a:ext cx="6470332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2000" b="1" dirty="0">
                <a:solidFill>
                  <a:srgbClr val="2B4150"/>
                </a:solidFill>
                <a:latin typeface="SimSun" panose="02010600030101010101" pitchFamily="2" charset="-122"/>
                <a:ea typeface="SimSun" panose="02010600030101010101" pitchFamily="2" charset="-122"/>
                <a:cs typeface="Source Sans 3" pitchFamily="34" charset="-120"/>
              </a:rPr>
              <a:t>Principal:</a:t>
            </a:r>
            <a:r>
              <a:rPr lang="en-US" sz="2000" dirty="0">
                <a:solidFill>
                  <a:srgbClr val="2B4150"/>
                </a:solidFill>
                <a:latin typeface="SimSun" panose="02010600030101010101" pitchFamily="2" charset="-122"/>
                <a:ea typeface="SimSun" panose="02010600030101010101" pitchFamily="2" charset="-122"/>
                <a:cs typeface="Source Sans 3" pitchFamily="34" charset="-120"/>
              </a:rPr>
              <a:t> principal / principal123</a:t>
            </a:r>
            <a:endParaRPr lang="en-US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541181" y="3917752"/>
            <a:ext cx="6470332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2000" b="1" dirty="0">
                <a:solidFill>
                  <a:srgbClr val="2B4150"/>
                </a:solidFill>
                <a:latin typeface="SimSun" panose="02010600030101010101" pitchFamily="2" charset="-122"/>
                <a:ea typeface="SimSun" panose="02010600030101010101" pitchFamily="2" charset="-122"/>
                <a:cs typeface="Source Sans 3" pitchFamily="34" charset="-120"/>
              </a:rPr>
              <a:t>Management:</a:t>
            </a:r>
            <a:r>
              <a:rPr lang="en-US" sz="2000" dirty="0">
                <a:solidFill>
                  <a:srgbClr val="2B4150"/>
                </a:solidFill>
                <a:latin typeface="SimSun" panose="02010600030101010101" pitchFamily="2" charset="-122"/>
                <a:ea typeface="SimSun" panose="02010600030101010101" pitchFamily="2" charset="-122"/>
                <a:cs typeface="Source Sans 3" pitchFamily="34" charset="-120"/>
              </a:rPr>
              <a:t> management / management123</a:t>
            </a:r>
            <a:endParaRPr lang="en-US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541181" y="4266843"/>
            <a:ext cx="6470332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2000" b="1" dirty="0">
                <a:solidFill>
                  <a:srgbClr val="2B4150"/>
                </a:solidFill>
                <a:latin typeface="SimSun" panose="02010600030101010101" pitchFamily="2" charset="-122"/>
                <a:ea typeface="SimSun" panose="02010600030101010101" pitchFamily="2" charset="-122"/>
                <a:cs typeface="Source Sans 3" pitchFamily="34" charset="-120"/>
              </a:rPr>
              <a:t>Student:</a:t>
            </a:r>
            <a:r>
              <a:rPr lang="en-US" sz="2000" dirty="0">
                <a:solidFill>
                  <a:srgbClr val="2B4150"/>
                </a:solidFill>
                <a:latin typeface="SimSun" panose="02010600030101010101" pitchFamily="2" charset="-122"/>
                <a:ea typeface="SimSun" panose="02010600030101010101" pitchFamily="2" charset="-122"/>
                <a:cs typeface="Source Sans 3" pitchFamily="34" charset="-120"/>
              </a:rPr>
              <a:t> student / student123</a:t>
            </a:r>
            <a:endParaRPr lang="en-US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541181" y="4714399"/>
            <a:ext cx="6470332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SimSun" panose="02010600030101010101" pitchFamily="2" charset="-122"/>
                <a:ea typeface="SimSun" panose="02010600030101010101" pitchFamily="2" charset="-122"/>
                <a:cs typeface="Source Sans 3" pitchFamily="34" charset="-120"/>
              </a:rPr>
              <a:t>These roles enable a comprehensive demonstration of the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2B4150"/>
                </a:solidFill>
                <a:latin typeface="SimSun" panose="02010600030101010101" pitchFamily="2" charset="-122"/>
                <a:ea typeface="SimSun" panose="02010600030101010101" pitchFamily="2" charset="-122"/>
                <a:cs typeface="Source Sans 3" pitchFamily="34" charset="-120"/>
              </a:rPr>
              <a:t> workflow approvals.</a:t>
            </a:r>
            <a:endParaRPr lang="en-US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E4B0C0-DEC3-4A5D-715E-FAD572DE5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51" y="3988757"/>
            <a:ext cx="7344800" cy="40486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8304"/>
            <a:ext cx="895683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24E73"/>
                </a:solidFill>
                <a:latin typeface="MingLiU_HKSCS-ExtB" panose="02020500000000000000" pitchFamily="18" charset="-120"/>
                <a:ea typeface="MingLiU_HKSCS-ExtB" panose="02020500000000000000" pitchFamily="18" charset="-120"/>
                <a:cs typeface="MuseoModerno Medium" pitchFamily="34" charset="-120"/>
              </a:rPr>
              <a:t>Approval Workflow: A Seamless Journey</a:t>
            </a:r>
            <a:endParaRPr lang="en-US" sz="3550" dirty="0">
              <a:latin typeface="MingLiU_HKSCS-ExtB" panose="02020500000000000000" pitchFamily="18" charset="-120"/>
              <a:ea typeface="MingLiU_HKSCS-ExtB" panose="02020500000000000000" pitchFamily="18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73890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itka Banner Semibold" pitchFamily="2" charset="0"/>
                <a:ea typeface="Source Sans 3" pitchFamily="34" charset="-122"/>
                <a:cs typeface="Source Sans 3" pitchFamily="34" charset="-120"/>
              </a:rPr>
              <a:t>Applications progress through a clear, multi-stage approval process, ensuring thorough review.</a:t>
            </a:r>
            <a:endParaRPr lang="en-US" sz="1750" dirty="0">
              <a:latin typeface="Sitka Banner Semibold" pitchFamily="2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56961"/>
            <a:ext cx="6521410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3491032"/>
            <a:ext cx="30718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S Reference Sans Serif" panose="020B0604030504040204" pitchFamily="34" charset="0"/>
                <a:ea typeface="MuseoModerno Medium" pitchFamily="34" charset="-122"/>
                <a:cs typeface="MuseoModerno Medium" pitchFamily="34" charset="-120"/>
              </a:rPr>
              <a:t>Application Submitted</a:t>
            </a:r>
            <a:endParaRPr lang="en-US" sz="2200" dirty="0">
              <a:latin typeface="MS Reference Sans Serif" panose="020B060403050404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20604" y="3981450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Faculty member completes and submits the online application form.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356961"/>
            <a:ext cx="6521410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42014" y="34910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S Reference Sans Serif" panose="020B0604030504040204" pitchFamily="34" charset="0"/>
                <a:ea typeface="MuseoModerno Medium" pitchFamily="34" charset="-122"/>
                <a:cs typeface="MuseoModerno Medium" pitchFamily="34" charset="-120"/>
              </a:rPr>
              <a:t>Approved by HOD</a:t>
            </a:r>
            <a:endParaRPr lang="en-US" sz="2200" dirty="0">
              <a:latin typeface="MS Reference Sans Serif" panose="020B060403050404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542014" y="3981450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Head of Department reviews and approves the application.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934069"/>
            <a:ext cx="6521410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0604" y="6068139"/>
            <a:ext cx="29864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S Reference Sans Serif" panose="020B0604030504040204" pitchFamily="34" charset="0"/>
                <a:ea typeface="MuseoModerno Medium" pitchFamily="34" charset="-122"/>
                <a:cs typeface="MuseoModerno Medium" pitchFamily="34" charset="-120"/>
              </a:rPr>
              <a:t>Approved by Principal</a:t>
            </a:r>
            <a:endParaRPr lang="en-US" sz="2200" dirty="0">
              <a:latin typeface="MS Reference Sans Serif" panose="020B060403050404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020604" y="6558558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Principal gives the final approval, moving the application to the next stage.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934069"/>
            <a:ext cx="6521410" cy="9072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42014" y="6068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S Reference Sans Serif" panose="020B0604030504040204" pitchFamily="34" charset="0"/>
                <a:ea typeface="MuseoModerno Medium" pitchFamily="34" charset="-122"/>
                <a:cs typeface="MuseoModerno Medium" pitchFamily="34" charset="-120"/>
              </a:rPr>
              <a:t>Approved &amp; Contract</a:t>
            </a:r>
            <a:endParaRPr lang="en-US" sz="2200" dirty="0">
              <a:latin typeface="MS Reference Sans Serif" panose="020B060403050404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7542014" y="6558558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Application is fully approved, and contract generation proceeds.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F34674-49AB-FB41-F7CE-6C690AC4A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547" y="5476491"/>
            <a:ext cx="7363853" cy="2753109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A0E326-7F1A-6D81-4AE4-D1BB2AB28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50"/>
            <a:ext cx="11084312" cy="509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83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5683A5-54AC-39F4-F178-670B1B007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21" y="3041861"/>
            <a:ext cx="7925906" cy="1409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509A13-2D3B-FE7E-A733-5149005E8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21" y="0"/>
            <a:ext cx="7316221" cy="2676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80B7BA-93E3-8D3A-D822-5A5529668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1811" y="5552701"/>
            <a:ext cx="7268589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462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708C44-95A4-8AAE-8D04-A10618FCE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30" y="286315"/>
            <a:ext cx="6735115" cy="35533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7D9AA9-8D04-271A-ED37-426C6B03D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653" y="2228012"/>
            <a:ext cx="6782747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628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D6F881-546B-1956-2D3C-4D82A22B4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0361"/>
            <a:ext cx="11000791" cy="737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242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Old English Text MT" panose="03040902040508030806" pitchFamily="66" charset="0"/>
                <a:ea typeface="MuseoModerno Medium" pitchFamily="34" charset="-122"/>
                <a:cs typeface="MuseoModerno Medium" pitchFamily="34" charset="-120"/>
              </a:rPr>
              <a:t>Thank You.</a:t>
            </a:r>
            <a:endParaRPr lang="en-US" sz="4450" dirty="0">
              <a:latin typeface="Old English Text MT" panose="03040902040508030806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88</TotalTime>
  <Words>593</Words>
  <Application>Microsoft Office PowerPoint</Application>
  <PresentationFormat>Custom</PresentationFormat>
  <Paragraphs>89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8" baseType="lpstr">
      <vt:lpstr>Trebuchet MS</vt:lpstr>
      <vt:lpstr>MingLiU_HKSCS-ExtB</vt:lpstr>
      <vt:lpstr>SimSun</vt:lpstr>
      <vt:lpstr>Old English Text MT</vt:lpstr>
      <vt:lpstr>Microsoft YaHei UI</vt:lpstr>
      <vt:lpstr>Arial Rounded MT Bold</vt:lpstr>
      <vt:lpstr>Stencil</vt:lpstr>
      <vt:lpstr>Wingdings</vt:lpstr>
      <vt:lpstr>Sitka Display Semibold</vt:lpstr>
      <vt:lpstr>MingLiU-ExtB</vt:lpstr>
      <vt:lpstr>Sitka Small Semibold</vt:lpstr>
      <vt:lpstr>Sitka Banner Semibold</vt:lpstr>
      <vt:lpstr>Lucida Calligraphy</vt:lpstr>
      <vt:lpstr>Sitka Subheading Semibold</vt:lpstr>
      <vt:lpstr>Arial</vt:lpstr>
      <vt:lpstr>MS Reference Sans Serif</vt:lpstr>
      <vt:lpstr>Wingdings 3</vt:lpstr>
      <vt:lpstr>Arial Black</vt:lpstr>
      <vt:lpstr>Wide Latin</vt:lpstr>
      <vt:lpstr>Source Sans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Mani Chandana</dc:creator>
  <cp:lastModifiedBy>SUNNY THALLAPALLY</cp:lastModifiedBy>
  <cp:revision>2</cp:revision>
  <dcterms:created xsi:type="dcterms:W3CDTF">2025-11-12T16:56:23Z</dcterms:created>
  <dcterms:modified xsi:type="dcterms:W3CDTF">2025-11-13T03:54:18Z</dcterms:modified>
</cp:coreProperties>
</file>